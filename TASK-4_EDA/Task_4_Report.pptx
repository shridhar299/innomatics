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61" r:id="rId3"/>
    <p:sldId id="260" r:id="rId4"/>
    <p:sldId id="262" r:id="rId5"/>
    <p:sldId id="263" r:id="rId6"/>
    <p:sldId id="265" r:id="rId7"/>
    <p:sldId id="266" r:id="rId8"/>
    <p:sldId id="271" r:id="rId9"/>
    <p:sldId id="267" r:id="rId10"/>
    <p:sldId id="264" r:id="rId11"/>
    <p:sldId id="269" r:id="rId12"/>
    <p:sldId id="274" r:id="rId13"/>
    <p:sldId id="268" r:id="rId14"/>
    <p:sldId id="272" r:id="rId15"/>
    <p:sldId id="270" r:id="rId16"/>
    <p:sldId id="277" r:id="rId17"/>
    <p:sldId id="276" r:id="rId18"/>
    <p:sldId id="278" r:id="rId19"/>
    <p:sldId id="279" r:id="rId20"/>
    <p:sldId id="258" r:id="rId21"/>
    <p:sldId id="259" r:id="rId22"/>
  </p:sldIdLst>
  <p:sldSz cx="12192000" cy="6858000"/>
  <p:notesSz cx="6858000" cy="9144000"/>
  <p:embeddedFontLs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Lato Black" panose="020B0604020202020204" charset="0"/>
      <p:bold r:id="rId28"/>
      <p:italic r:id="rId29"/>
      <p:boldItalic r:id="rId30"/>
    </p:embeddedFont>
    <p:embeddedFont>
      <p:font typeface="Libre Baskerville" panose="020B0604020202020204" charset="0"/>
      <p:regular r:id="rId31"/>
      <p:bold r:id="rId32"/>
      <p: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8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48"/>
  </p:normalViewPr>
  <p:slideViewPr>
    <p:cSldViewPr snapToGrid="0">
      <p:cViewPr varScale="1">
        <p:scale>
          <a:sx n="63" d="100"/>
          <a:sy n="63" d="100"/>
        </p:scale>
        <p:origin x="78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14762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ridhar299/Innomatic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2375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717986"/>
            <a:ext cx="7246189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AMCAT data - An Exploratory Data Analysis</a:t>
            </a:r>
            <a:endParaRPr lang="en-IN" sz="20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317398" y="1194069"/>
            <a:ext cx="11338574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 b="1" dirty="0">
                <a:solidFill>
                  <a:schemeClr val="dk1"/>
                </a:solidFill>
                <a:latin typeface="Calibri"/>
                <a:cs typeface="Calibri"/>
              </a:rPr>
              <a:t>Hi I’m Shridhar </a:t>
            </a:r>
            <a:r>
              <a:rPr lang="en-IN" sz="1800" b="1" dirty="0" err="1">
                <a:solidFill>
                  <a:schemeClr val="dk1"/>
                </a:solidFill>
                <a:latin typeface="Calibri"/>
                <a:cs typeface="Calibri"/>
              </a:rPr>
              <a:t>Naragund</a:t>
            </a:r>
            <a:r>
              <a:rPr lang="en-IN" sz="1800" b="1" dirty="0">
                <a:solidFill>
                  <a:schemeClr val="dk1"/>
                </a:solidFill>
                <a:latin typeface="Calibri"/>
                <a:cs typeface="Calibri"/>
              </a:rPr>
              <a:t> [IN1240913],I’m Intern at </a:t>
            </a:r>
            <a:r>
              <a:rPr lang="en-IN" sz="1800" b="1" dirty="0" err="1">
                <a:solidFill>
                  <a:schemeClr val="dk1"/>
                </a:solidFill>
                <a:latin typeface="Calibri"/>
                <a:cs typeface="Calibri"/>
              </a:rPr>
              <a:t>Innomatics</a:t>
            </a:r>
            <a:r>
              <a:rPr lang="en-IN" sz="1800" b="1" dirty="0">
                <a:solidFill>
                  <a:schemeClr val="dk1"/>
                </a:solidFill>
                <a:latin typeface="Calibri"/>
                <a:cs typeface="Calibri"/>
              </a:rPr>
              <a:t> Research Lab , pursuing Data Science Course . 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lang="en-IN" sz="1800" b="1" i="0" u="none" strike="noStrike" dirty="0">
              <a:solidFill>
                <a:schemeClr val="dk1"/>
              </a:solidFill>
              <a:effectLst/>
              <a:latin typeface="Calibri"/>
              <a:cs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 b="1" dirty="0">
                <a:solidFill>
                  <a:schemeClr val="dk1"/>
                </a:solidFill>
                <a:latin typeface="Calibri"/>
                <a:cs typeface="Calibri"/>
              </a:rPr>
              <a:t>Feel free to reach out! I'm always down to connect with you all. </a:t>
            </a:r>
            <a:r>
              <a:rPr lang="en-IN" sz="1800" b="1" dirty="0">
                <a:solidFill>
                  <a:schemeClr val="dk1"/>
                </a:solidFill>
                <a:latin typeface="Calibri"/>
                <a:cs typeface="Calibri"/>
                <a:sym typeface="Wingdings" pitchFamily="2" charset="2"/>
              </a:rPr>
              <a:t></a:t>
            </a:r>
            <a:endParaRPr lang="en-IN" sz="1800" b="1" dirty="0">
              <a:solidFill>
                <a:schemeClr val="dk1"/>
              </a:solidFill>
              <a:latin typeface="Calibri"/>
              <a:cs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IN" sz="1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	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IN" sz="18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                 </a:t>
            </a:r>
            <a:r>
              <a:rPr lang="en-IN" sz="1800" b="1" dirty="0">
                <a:solidFill>
                  <a:schemeClr val="dk1"/>
                </a:solidFill>
                <a:latin typeface="Calibri"/>
                <a:cs typeface="Calibri"/>
                <a:sym typeface="Calibri"/>
                <a:hlinkClick r:id="rId3"/>
              </a:rPr>
              <a:t>GitHub</a:t>
            </a:r>
            <a:endParaRPr lang="en-IN" sz="1800" b="1" dirty="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15059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03D950-1820-D0EB-4101-DCB20BFDAD01}"/>
              </a:ext>
            </a:extLst>
          </p:cNvPr>
          <p:cNvSpPr txBox="1"/>
          <p:nvPr/>
        </p:nvSpPr>
        <p:spPr>
          <a:xfrm>
            <a:off x="305790" y="214247"/>
            <a:ext cx="609797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solidFill>
                  <a:srgbClr val="FF0000"/>
                </a:solidFill>
                <a:latin typeface="Calibri"/>
                <a:cs typeface="Calibri"/>
                <a:sym typeface="Calibri"/>
              </a:rPr>
              <a:t>Objective</a:t>
            </a:r>
            <a:endParaRPr lang="en-US" sz="4400" b="1" dirty="0">
              <a:solidFill>
                <a:srgbClr val="FF0000"/>
              </a:solidFill>
              <a:latin typeface="Calibri"/>
              <a:cs typeface="Calibri"/>
              <a:sym typeface="Calibri"/>
            </a:endParaRPr>
          </a:p>
        </p:txBody>
      </p:sp>
      <p:sp>
        <p:nvSpPr>
          <p:cNvPr id="4" name="Google Shape;111;p4">
            <a:extLst>
              <a:ext uri="{FF2B5EF4-FFF2-40B4-BE49-F238E27FC236}">
                <a16:creationId xmlns:a16="http://schemas.microsoft.com/office/drawing/2014/main" id="{4BAD9161-421B-E77E-4FE3-534D444E513A}"/>
              </a:ext>
            </a:extLst>
          </p:cNvPr>
          <p:cNvSpPr txBox="1">
            <a:spLocks/>
          </p:cNvSpPr>
          <p:nvPr/>
        </p:nvSpPr>
        <p:spPr>
          <a:xfrm>
            <a:off x="684880" y="191903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600" indent="-228600" algn="just">
              <a:lnSpc>
                <a:spcPct val="90000"/>
              </a:lnSpc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IN" sz="2800" b="1" dirty="0"/>
              <a:t>To find the insights and decode the patterns on how the salary pay scale is impacted based on various parameters like academic achievements, AMCAT scores, Age, Years of Work Experiences etc..</a:t>
            </a:r>
          </a:p>
        </p:txBody>
      </p:sp>
    </p:spTree>
    <p:extLst>
      <p:ext uri="{BB962C8B-B14F-4D97-AF65-F5344CB8AC3E}">
        <p14:creationId xmlns:p14="http://schemas.microsoft.com/office/powerpoint/2010/main" val="2975207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03D950-1820-D0EB-4101-DCB20BFDAD01}"/>
              </a:ext>
            </a:extLst>
          </p:cNvPr>
          <p:cNvSpPr txBox="1"/>
          <p:nvPr/>
        </p:nvSpPr>
        <p:spPr>
          <a:xfrm>
            <a:off x="305790" y="214247"/>
            <a:ext cx="609797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solidFill>
                  <a:srgbClr val="FF0000"/>
                </a:solidFill>
                <a:latin typeface="Calibri"/>
                <a:cs typeface="Calibri"/>
                <a:sym typeface="Calibri"/>
              </a:rPr>
              <a:t>Summary of the Dataset</a:t>
            </a:r>
            <a:endParaRPr lang="en-US" sz="4400" b="1" dirty="0">
              <a:solidFill>
                <a:srgbClr val="FF0000"/>
              </a:solidFill>
              <a:latin typeface="Calibri"/>
              <a:cs typeface="Calibri"/>
              <a:sym typeface="Calibri"/>
            </a:endParaRPr>
          </a:p>
        </p:txBody>
      </p:sp>
      <p:sp>
        <p:nvSpPr>
          <p:cNvPr id="4" name="Google Shape;111;p4">
            <a:extLst>
              <a:ext uri="{FF2B5EF4-FFF2-40B4-BE49-F238E27FC236}">
                <a16:creationId xmlns:a16="http://schemas.microsoft.com/office/drawing/2014/main" id="{4BAD9161-421B-E77E-4FE3-534D444E513A}"/>
              </a:ext>
            </a:extLst>
          </p:cNvPr>
          <p:cNvSpPr txBox="1">
            <a:spLocks/>
          </p:cNvSpPr>
          <p:nvPr/>
        </p:nvSpPr>
        <p:spPr>
          <a:xfrm>
            <a:off x="684880" y="191903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600" indent="-228600">
              <a:lnSpc>
                <a:spcPct val="90000"/>
              </a:lnSpc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IN" sz="2800" b="1" dirty="0"/>
              <a:t>There are total of </a:t>
            </a:r>
            <a:r>
              <a:rPr lang="en-IN" sz="2800" b="1" u="sng" dirty="0"/>
              <a:t>38 columns</a:t>
            </a:r>
            <a:r>
              <a:rPr lang="en-IN" sz="2800" b="1" dirty="0"/>
              <a:t> that are used to find their individual impacts on salary.</a:t>
            </a:r>
          </a:p>
          <a:p>
            <a:pPr>
              <a:lnSpc>
                <a:spcPct val="90000"/>
              </a:lnSpc>
              <a:buClr>
                <a:schemeClr val="dk1"/>
              </a:buClr>
              <a:buSzPct val="100000"/>
            </a:pPr>
            <a:endParaRPr lang="en-IN" sz="2800" b="1" dirty="0"/>
          </a:p>
          <a:p>
            <a:pPr marL="228600" indent="-228600">
              <a:lnSpc>
                <a:spcPct val="90000"/>
              </a:lnSpc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IN" sz="2800" b="1" dirty="0"/>
              <a:t>With </a:t>
            </a:r>
            <a:r>
              <a:rPr lang="en-IN" sz="2800" b="1" u="sng" dirty="0"/>
              <a:t>4000 data points</a:t>
            </a:r>
            <a:r>
              <a:rPr lang="en-IN" sz="2800" b="1" dirty="0"/>
              <a:t> that make our analysis to the optimal insights with all the required information.</a:t>
            </a:r>
          </a:p>
        </p:txBody>
      </p:sp>
    </p:spTree>
    <p:extLst>
      <p:ext uri="{BB962C8B-B14F-4D97-AF65-F5344CB8AC3E}">
        <p14:creationId xmlns:p14="http://schemas.microsoft.com/office/powerpoint/2010/main" val="819853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9E8D1D-3420-75CD-F88F-E3AFD6A91793}"/>
              </a:ext>
            </a:extLst>
          </p:cNvPr>
          <p:cNvSpPr txBox="1"/>
          <p:nvPr/>
        </p:nvSpPr>
        <p:spPr>
          <a:xfrm>
            <a:off x="305789" y="214247"/>
            <a:ext cx="1188621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solidFill>
                  <a:srgbClr val="FF0000"/>
                </a:solidFill>
                <a:latin typeface="Calibri"/>
                <a:cs typeface="Calibri"/>
                <a:sym typeface="Calibri"/>
              </a:rPr>
              <a:t>What is our Target variable ‘Salary’ informs to us?</a:t>
            </a:r>
            <a:endParaRPr lang="en-US" sz="4400" b="1" dirty="0">
              <a:solidFill>
                <a:srgbClr val="FF0000"/>
              </a:solidFill>
              <a:latin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F9123E-8561-5D99-B2C7-F0C0E929DF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r="64575"/>
          <a:stretch/>
        </p:blipFill>
        <p:spPr>
          <a:xfrm>
            <a:off x="6096000" y="1313394"/>
            <a:ext cx="2636487" cy="2603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5C0A2B-933D-2E09-9AD0-A7788F21EB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453" r="30240"/>
          <a:stretch/>
        </p:blipFill>
        <p:spPr>
          <a:xfrm>
            <a:off x="3344720" y="3916894"/>
            <a:ext cx="2553195" cy="2603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9A6A99-F533-7EA0-0475-BACFF1ADE2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9930"/>
          <a:stretch/>
        </p:blipFill>
        <p:spPr>
          <a:xfrm>
            <a:off x="305789" y="1148541"/>
            <a:ext cx="2237838" cy="2603500"/>
          </a:xfrm>
          <a:prstGeom prst="rect">
            <a:avLst/>
          </a:prstGeom>
        </p:spPr>
      </p:pic>
      <p:sp>
        <p:nvSpPr>
          <p:cNvPr id="8" name="Google Shape;111;p4">
            <a:extLst>
              <a:ext uri="{FF2B5EF4-FFF2-40B4-BE49-F238E27FC236}">
                <a16:creationId xmlns:a16="http://schemas.microsoft.com/office/drawing/2014/main" id="{1C8FD7C6-94EF-99BD-1FB4-F947E46AF03D}"/>
              </a:ext>
            </a:extLst>
          </p:cNvPr>
          <p:cNvSpPr txBox="1">
            <a:spLocks/>
          </p:cNvSpPr>
          <p:nvPr/>
        </p:nvSpPr>
        <p:spPr>
          <a:xfrm>
            <a:off x="2406732" y="1148541"/>
            <a:ext cx="2636486" cy="26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ct val="100000"/>
            </a:pPr>
            <a:endParaRPr lang="en-IN" sz="1600" b="1" dirty="0"/>
          </a:p>
          <a:p>
            <a:pPr marL="228600" indent="-228600"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IN" sz="1600" b="1" dirty="0"/>
              <a:t>count </a:t>
            </a:r>
            <a:r>
              <a:rPr lang="en-IN" sz="1600" dirty="0"/>
              <a:t>3998</a:t>
            </a:r>
            <a:endParaRPr lang="en-IN" sz="1600" b="1" dirty="0"/>
          </a:p>
          <a:p>
            <a:pPr marL="228600" indent="-228600"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IN" sz="1600" b="1" dirty="0"/>
              <a:t>min </a:t>
            </a:r>
            <a:r>
              <a:rPr lang="en-IN" sz="1600" dirty="0"/>
              <a:t>35000</a:t>
            </a:r>
          </a:p>
          <a:p>
            <a:pPr marL="228600" indent="-228600"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IN" sz="1600" b="1" dirty="0"/>
              <a:t>max </a:t>
            </a:r>
            <a:r>
              <a:rPr lang="en-IN" sz="1600" dirty="0"/>
              <a:t>4000000</a:t>
            </a:r>
          </a:p>
          <a:p>
            <a:pPr marL="228600" indent="-228600"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IN" sz="1600" b="1" dirty="0"/>
              <a:t>mean </a:t>
            </a:r>
            <a:r>
              <a:rPr lang="en-IN" sz="1600" dirty="0"/>
              <a:t>307699</a:t>
            </a:r>
          </a:p>
          <a:p>
            <a:pPr marL="228600" indent="-228600"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IN" sz="1600" b="1" dirty="0"/>
              <a:t>median </a:t>
            </a:r>
            <a:r>
              <a:rPr lang="en-IN" sz="1600" dirty="0"/>
              <a:t>300000 </a:t>
            </a:r>
          </a:p>
          <a:p>
            <a:pPr marL="228600" indent="-228600"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IN" sz="1600" b="1" dirty="0"/>
              <a:t>var </a:t>
            </a:r>
            <a:r>
              <a:rPr lang="en-IN" sz="1600" dirty="0"/>
              <a:t>4.52e+10 </a:t>
            </a:r>
          </a:p>
          <a:p>
            <a:pPr marL="228600" indent="-228600"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IN" sz="1600" b="1" dirty="0"/>
              <a:t>std </a:t>
            </a:r>
            <a:r>
              <a:rPr lang="en-IN" sz="1600" dirty="0"/>
              <a:t>2.12e+05 </a:t>
            </a:r>
          </a:p>
          <a:p>
            <a:pPr marL="228600" indent="-228600"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IN" sz="1600" b="1" dirty="0"/>
              <a:t>skew </a:t>
            </a:r>
            <a:r>
              <a:rPr lang="en-IN" sz="1600" dirty="0"/>
              <a:t>6.45</a:t>
            </a:r>
          </a:p>
          <a:p>
            <a:pPr marL="228600" indent="-228600"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IN" sz="1600" b="1" dirty="0" err="1"/>
              <a:t>kurt</a:t>
            </a:r>
            <a:r>
              <a:rPr lang="en-IN" sz="1600" b="1" dirty="0"/>
              <a:t> </a:t>
            </a:r>
            <a:r>
              <a:rPr lang="en-IN" sz="1600" dirty="0"/>
              <a:t>80.9</a:t>
            </a:r>
          </a:p>
        </p:txBody>
      </p:sp>
      <p:sp>
        <p:nvSpPr>
          <p:cNvPr id="9" name="Google Shape;111;p4">
            <a:extLst>
              <a:ext uri="{FF2B5EF4-FFF2-40B4-BE49-F238E27FC236}">
                <a16:creationId xmlns:a16="http://schemas.microsoft.com/office/drawing/2014/main" id="{44A8A92D-2D87-8769-7476-A37DDC5C1546}"/>
              </a:ext>
            </a:extLst>
          </p:cNvPr>
          <p:cNvSpPr txBox="1">
            <a:spLocks/>
          </p:cNvSpPr>
          <p:nvPr/>
        </p:nvSpPr>
        <p:spPr>
          <a:xfrm>
            <a:off x="9089407" y="1912701"/>
            <a:ext cx="2636486" cy="1136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ct val="100000"/>
            </a:pPr>
            <a:r>
              <a:rPr lang="en-IN" sz="1600" b="1" dirty="0"/>
              <a:t>Salary ranges from 35k to 40L with higher density of 3L </a:t>
            </a:r>
            <a:endParaRPr lang="en-IN" sz="1600" dirty="0"/>
          </a:p>
        </p:txBody>
      </p:sp>
      <p:sp>
        <p:nvSpPr>
          <p:cNvPr id="10" name="Google Shape;111;p4">
            <a:extLst>
              <a:ext uri="{FF2B5EF4-FFF2-40B4-BE49-F238E27FC236}">
                <a16:creationId xmlns:a16="http://schemas.microsoft.com/office/drawing/2014/main" id="{F303244E-746D-B4CF-1975-9559D60A12CB}"/>
              </a:ext>
            </a:extLst>
          </p:cNvPr>
          <p:cNvSpPr txBox="1">
            <a:spLocks/>
          </p:cNvSpPr>
          <p:nvPr/>
        </p:nvSpPr>
        <p:spPr>
          <a:xfrm>
            <a:off x="6096001" y="4976157"/>
            <a:ext cx="2636486" cy="1136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ct val="100000"/>
            </a:pPr>
            <a:r>
              <a:rPr lang="en-IN" sz="1600" b="1" dirty="0"/>
              <a:t>It is right skewed 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856024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9E8D1D-3420-75CD-F88F-E3AFD6A91793}"/>
              </a:ext>
            </a:extLst>
          </p:cNvPr>
          <p:cNvSpPr txBox="1"/>
          <p:nvPr/>
        </p:nvSpPr>
        <p:spPr>
          <a:xfrm>
            <a:off x="305789" y="214247"/>
            <a:ext cx="1188621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Calibri"/>
                <a:cs typeface="Calibri"/>
                <a:sym typeface="Calibri"/>
              </a:rPr>
              <a:t>Do you think there is salary difference for genders?</a:t>
            </a:r>
            <a:endParaRPr lang="en-US" sz="4000" b="1" dirty="0">
              <a:solidFill>
                <a:srgbClr val="FF0000"/>
              </a:solidFill>
              <a:latin typeface="Calibri"/>
              <a:cs typeface="Calibri"/>
              <a:sym typeface="Calibri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9C39C9E-65D9-983B-1650-0359708909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190" y="1837954"/>
            <a:ext cx="4902200" cy="346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111;p4">
            <a:extLst>
              <a:ext uri="{FF2B5EF4-FFF2-40B4-BE49-F238E27FC236}">
                <a16:creationId xmlns:a16="http://schemas.microsoft.com/office/drawing/2014/main" id="{4767E80C-F78F-EFC9-A5C5-F4EFEEC5C09C}"/>
              </a:ext>
            </a:extLst>
          </p:cNvPr>
          <p:cNvSpPr txBox="1">
            <a:spLocks/>
          </p:cNvSpPr>
          <p:nvPr/>
        </p:nvSpPr>
        <p:spPr>
          <a:xfrm>
            <a:off x="5693064" y="2503111"/>
            <a:ext cx="3450936" cy="1961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ct val="100000"/>
            </a:pPr>
            <a:r>
              <a:rPr lang="en-IN" sz="1600" b="1" dirty="0"/>
              <a:t>Yes, of course. </a:t>
            </a:r>
            <a:r>
              <a:rPr lang="en-IN" sz="1600" b="1" u="sng" dirty="0">
                <a:solidFill>
                  <a:srgbClr val="FF0000"/>
                </a:solidFill>
              </a:rPr>
              <a:t>Male</a:t>
            </a:r>
            <a:r>
              <a:rPr lang="en-IN" sz="1600" b="1" dirty="0"/>
              <a:t> has higher median salary than Female.</a:t>
            </a:r>
          </a:p>
          <a:p>
            <a:pPr>
              <a:lnSpc>
                <a:spcPct val="90000"/>
              </a:lnSpc>
              <a:buClr>
                <a:schemeClr val="dk1"/>
              </a:buClr>
              <a:buSzPct val="100000"/>
            </a:pPr>
            <a:endParaRPr lang="en-IN" sz="1600" b="1" dirty="0"/>
          </a:p>
          <a:p>
            <a:pPr>
              <a:lnSpc>
                <a:spcPct val="90000"/>
              </a:lnSpc>
              <a:buClr>
                <a:schemeClr val="dk1"/>
              </a:buClr>
              <a:buSzPct val="100000"/>
            </a:pPr>
            <a:r>
              <a:rPr lang="en-IN" sz="1600" b="1" dirty="0"/>
              <a:t>[F – Female]</a:t>
            </a:r>
          </a:p>
          <a:p>
            <a:pPr>
              <a:lnSpc>
                <a:spcPct val="90000"/>
              </a:lnSpc>
              <a:buClr>
                <a:schemeClr val="dk1"/>
              </a:buClr>
              <a:buSzPct val="100000"/>
            </a:pPr>
            <a:r>
              <a:rPr lang="en-IN" sz="1600" b="1" dirty="0"/>
              <a:t>[M – Male]</a:t>
            </a:r>
          </a:p>
          <a:p>
            <a:pPr>
              <a:lnSpc>
                <a:spcPct val="90000"/>
              </a:lnSpc>
              <a:buClr>
                <a:schemeClr val="dk1"/>
              </a:buClr>
              <a:buSzPct val="100000"/>
            </a:pPr>
            <a:endParaRPr lang="en-IN" sz="1600" b="1" dirty="0"/>
          </a:p>
          <a:p>
            <a:pPr>
              <a:lnSpc>
                <a:spcPct val="90000"/>
              </a:lnSpc>
              <a:buClr>
                <a:schemeClr val="dk1"/>
              </a:buClr>
              <a:buSzPct val="100000"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92752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9E8D1D-3420-75CD-F88F-E3AFD6A91793}"/>
              </a:ext>
            </a:extLst>
          </p:cNvPr>
          <p:cNvSpPr txBox="1"/>
          <p:nvPr/>
        </p:nvSpPr>
        <p:spPr>
          <a:xfrm>
            <a:off x="305789" y="214247"/>
            <a:ext cx="1188621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Calibri"/>
                <a:cs typeface="Calibri"/>
              </a:rPr>
              <a:t>Experience Pays Off? </a:t>
            </a:r>
            <a:r>
              <a:rPr lang="en-IN" sz="4000" b="1" dirty="0">
                <a:solidFill>
                  <a:srgbClr val="FF0000"/>
                </a:solidFill>
                <a:latin typeface="Calibri"/>
                <a:cs typeface="Calibri"/>
                <a:sym typeface="Calibri"/>
              </a:rPr>
              <a:t>Is Salary increases with Experience?</a:t>
            </a:r>
            <a:endParaRPr lang="en-US" sz="4000" b="1" dirty="0">
              <a:solidFill>
                <a:srgbClr val="FF0000"/>
              </a:solidFill>
              <a:latin typeface="Calibri"/>
              <a:cs typeface="Calibri"/>
              <a:sym typeface="Calibri"/>
            </a:endParaRPr>
          </a:p>
        </p:txBody>
      </p:sp>
      <p:sp>
        <p:nvSpPr>
          <p:cNvPr id="4" name="Google Shape;111;p4">
            <a:extLst>
              <a:ext uri="{FF2B5EF4-FFF2-40B4-BE49-F238E27FC236}">
                <a16:creationId xmlns:a16="http://schemas.microsoft.com/office/drawing/2014/main" id="{4767E80C-F78F-EFC9-A5C5-F4EFEEC5C09C}"/>
              </a:ext>
            </a:extLst>
          </p:cNvPr>
          <p:cNvSpPr txBox="1">
            <a:spLocks/>
          </p:cNvSpPr>
          <p:nvPr/>
        </p:nvSpPr>
        <p:spPr>
          <a:xfrm>
            <a:off x="4970483" y="2424244"/>
            <a:ext cx="5998853" cy="3434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  <a:buClr>
                <a:schemeClr val="dk1"/>
              </a:buClr>
              <a:buSzPct val="100000"/>
            </a:pPr>
            <a:r>
              <a:rPr lang="en-IN" sz="1600" b="1" dirty="0"/>
              <a:t>There is a </a:t>
            </a:r>
            <a:r>
              <a:rPr lang="en-IN" sz="1600" b="1" u="sng" dirty="0">
                <a:solidFill>
                  <a:srgbClr val="FF0000"/>
                </a:solidFill>
              </a:rPr>
              <a:t>slight increasing slope</a:t>
            </a:r>
            <a:r>
              <a:rPr lang="en-IN" sz="1600" b="1" dirty="0">
                <a:solidFill>
                  <a:srgbClr val="FF0000"/>
                </a:solidFill>
              </a:rPr>
              <a:t> </a:t>
            </a:r>
            <a:r>
              <a:rPr lang="en-IN" sz="1600" b="1" dirty="0"/>
              <a:t>for work experience and salary. However we can observe that there are some good pay scale for the freshers, but still there is increasing proportion of salary based on experience</a:t>
            </a:r>
            <a:endParaRPr lang="en-IN" sz="16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BB83981-28BD-20C0-E2C6-4DCF257C79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83" y="1906320"/>
            <a:ext cx="4470400" cy="4470400"/>
          </a:xfrm>
          <a:prstGeom prst="rect">
            <a:avLst/>
          </a:prstGeom>
          <a:noFill/>
          <a:effectLst>
            <a:glow>
              <a:schemeClr val="accent1">
                <a:alpha val="5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402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9E8D1D-3420-75CD-F88F-E3AFD6A91793}"/>
              </a:ext>
            </a:extLst>
          </p:cNvPr>
          <p:cNvSpPr txBox="1"/>
          <p:nvPr/>
        </p:nvSpPr>
        <p:spPr>
          <a:xfrm>
            <a:off x="152894" y="190497"/>
            <a:ext cx="1188621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Calibri"/>
                <a:cs typeface="Calibri"/>
              </a:rPr>
              <a:t>Lets Explore Board Transitions Across 10</a:t>
            </a:r>
            <a:r>
              <a:rPr lang="en-IN" sz="4000" b="1" baseline="30000" dirty="0">
                <a:solidFill>
                  <a:srgbClr val="FF0000"/>
                </a:solidFill>
                <a:latin typeface="Calibri"/>
                <a:cs typeface="Calibri"/>
              </a:rPr>
              <a:t>th</a:t>
            </a:r>
            <a:r>
              <a:rPr lang="en-IN" sz="4000" b="1" dirty="0">
                <a:solidFill>
                  <a:srgbClr val="FF0000"/>
                </a:solidFill>
                <a:latin typeface="Calibri"/>
                <a:cs typeface="Calibri"/>
              </a:rPr>
              <a:t> and 12</a:t>
            </a:r>
            <a:r>
              <a:rPr lang="en-IN" sz="4000" b="1" baseline="30000" dirty="0">
                <a:solidFill>
                  <a:srgbClr val="FF0000"/>
                </a:solidFill>
                <a:latin typeface="Calibri"/>
                <a:cs typeface="Calibri"/>
              </a:rPr>
              <a:t>th</a:t>
            </a:r>
            <a:r>
              <a:rPr lang="en-IN" sz="4000" b="1" dirty="0">
                <a:solidFill>
                  <a:srgbClr val="FF0000"/>
                </a:solidFill>
                <a:latin typeface="Calibri"/>
                <a:cs typeface="Calibri"/>
              </a:rPr>
              <a:t> using Chi Square test:</a:t>
            </a:r>
            <a:endParaRPr lang="en-US" sz="4000" b="1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1D9683-5E67-E101-7E91-A84B29FA8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666" y="2354857"/>
            <a:ext cx="5415072" cy="1492748"/>
          </a:xfrm>
          <a:prstGeom prst="rect">
            <a:avLst/>
          </a:prstGeom>
        </p:spPr>
      </p:pic>
      <p:sp>
        <p:nvSpPr>
          <p:cNvPr id="5" name="Google Shape;111;p4">
            <a:extLst>
              <a:ext uri="{FF2B5EF4-FFF2-40B4-BE49-F238E27FC236}">
                <a16:creationId xmlns:a16="http://schemas.microsoft.com/office/drawing/2014/main" id="{5E425520-9E72-8EBB-8A4C-444887D932B8}"/>
              </a:ext>
            </a:extLst>
          </p:cNvPr>
          <p:cNvSpPr txBox="1">
            <a:spLocks/>
          </p:cNvSpPr>
          <p:nvPr/>
        </p:nvSpPr>
        <p:spPr>
          <a:xfrm>
            <a:off x="6193147" y="1711724"/>
            <a:ext cx="5998853" cy="3434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600" b="1" dirty="0"/>
              <a:t>Chi-square value: </a:t>
            </a:r>
            <a:r>
              <a:rPr lang="en-IN" sz="1600" b="1" dirty="0">
                <a:solidFill>
                  <a:srgbClr val="FF0000"/>
                </a:solidFill>
              </a:rPr>
              <a:t>4503.58</a:t>
            </a:r>
            <a:r>
              <a:rPr lang="en-IN" sz="1600" b="1" dirty="0"/>
              <a:t> </a:t>
            </a: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600" b="1" dirty="0"/>
              <a:t>P-value: </a:t>
            </a:r>
            <a:r>
              <a:rPr lang="en-IN" sz="1600" b="1" dirty="0">
                <a:solidFill>
                  <a:srgbClr val="FF0000"/>
                </a:solidFill>
              </a:rPr>
              <a:t>0.0</a:t>
            </a: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endParaRPr lang="en-IN" sz="1600" b="1" dirty="0">
              <a:solidFill>
                <a:srgbClr val="FF0000"/>
              </a:solidFill>
            </a:endParaRP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600" b="1" dirty="0"/>
              <a:t>Since, P-Value equals to zero, we have enough evidence to </a:t>
            </a:r>
            <a:r>
              <a:rPr lang="en-IN" sz="1600" b="1" dirty="0">
                <a:solidFill>
                  <a:srgbClr val="FF0000"/>
                </a:solidFill>
              </a:rPr>
              <a:t>reject H0 </a:t>
            </a:r>
            <a:r>
              <a:rPr lang="en-IN" sz="1600" b="1" dirty="0"/>
              <a:t>(Null Hypothesis).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ct val="100000"/>
            </a:pPr>
            <a:endParaRPr lang="en-IN" sz="1600" b="1" dirty="0"/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600" b="1" dirty="0"/>
              <a:t>Your 10th board choice might significantly impact your 12th board decision. This analysis reveals a hidden link between the board you choose in 10th grade and where your academic journey takes you in 12th.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ct val="100000"/>
            </a:pPr>
            <a:endParaRPr lang="en-IN" sz="1600" b="1" dirty="0"/>
          </a:p>
          <a:p>
            <a:pPr>
              <a:lnSpc>
                <a:spcPct val="150000"/>
              </a:lnSpc>
              <a:buClr>
                <a:schemeClr val="dk1"/>
              </a:buClr>
              <a:buSzPct val="100000"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885006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9E8D1D-3420-75CD-F88F-E3AFD6A91793}"/>
              </a:ext>
            </a:extLst>
          </p:cNvPr>
          <p:cNvSpPr txBox="1"/>
          <p:nvPr/>
        </p:nvSpPr>
        <p:spPr>
          <a:xfrm>
            <a:off x="305789" y="214247"/>
            <a:ext cx="1188621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Calibri"/>
                <a:cs typeface="Calibri"/>
              </a:rPr>
              <a:t>Do Students Maintain Consistent Performance Across School and College?</a:t>
            </a:r>
            <a:endParaRPr lang="en-US" sz="4000" b="1" dirty="0">
              <a:solidFill>
                <a:srgbClr val="FF0000"/>
              </a:solidFill>
              <a:latin typeface="Calibri"/>
              <a:cs typeface="Calibri"/>
              <a:sym typeface="Calibri"/>
            </a:endParaRPr>
          </a:p>
        </p:txBody>
      </p:sp>
      <p:sp>
        <p:nvSpPr>
          <p:cNvPr id="4" name="Google Shape;111;p4">
            <a:extLst>
              <a:ext uri="{FF2B5EF4-FFF2-40B4-BE49-F238E27FC236}">
                <a16:creationId xmlns:a16="http://schemas.microsoft.com/office/drawing/2014/main" id="{4767E80C-F78F-EFC9-A5C5-F4EFEEC5C09C}"/>
              </a:ext>
            </a:extLst>
          </p:cNvPr>
          <p:cNvSpPr txBox="1">
            <a:spLocks/>
          </p:cNvSpPr>
          <p:nvPr/>
        </p:nvSpPr>
        <p:spPr>
          <a:xfrm>
            <a:off x="4970483" y="2424244"/>
            <a:ext cx="5998853" cy="3434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600" b="1" dirty="0"/>
              <a:t>Pearson correlation coefficient: </a:t>
            </a:r>
            <a:r>
              <a:rPr lang="en-IN" sz="1600" b="1" dirty="0">
                <a:solidFill>
                  <a:srgbClr val="FF0000"/>
                </a:solidFill>
              </a:rPr>
              <a:t>0.36</a:t>
            </a: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600" b="1" dirty="0"/>
              <a:t>P-value: </a:t>
            </a:r>
            <a:r>
              <a:rPr lang="en-IN" sz="1600" b="1" dirty="0">
                <a:solidFill>
                  <a:srgbClr val="FF0000"/>
                </a:solidFill>
              </a:rPr>
              <a:t>1.77e-125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ct val="100000"/>
            </a:pPr>
            <a:endParaRPr lang="en-IN" sz="1600" b="1" dirty="0">
              <a:solidFill>
                <a:srgbClr val="FF0000"/>
              </a:solidFill>
            </a:endParaRP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600" b="1" dirty="0"/>
              <a:t>Since, P-Value equals to zero, we have enough evidence to </a:t>
            </a:r>
            <a:r>
              <a:rPr lang="en-IN" sz="1600" b="1" dirty="0">
                <a:solidFill>
                  <a:srgbClr val="FF0000"/>
                </a:solidFill>
              </a:rPr>
              <a:t>reject H0 </a:t>
            </a:r>
            <a:r>
              <a:rPr lang="en-IN" sz="1600" b="1" dirty="0"/>
              <a:t>(Null Hypothesis).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ct val="100000"/>
            </a:pPr>
            <a:endParaRPr lang="en-IN" sz="1600" b="1" dirty="0"/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600" b="1" dirty="0"/>
              <a:t>We could see there is a correlation among school and college performance among students. </a:t>
            </a:r>
            <a:r>
              <a:rPr lang="en-IN" sz="1600" b="1" dirty="0">
                <a:solidFill>
                  <a:srgbClr val="FF0000"/>
                </a:solidFill>
              </a:rPr>
              <a:t>[r=0.36]</a:t>
            </a: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endParaRPr lang="en-IN" sz="1600" b="1" dirty="0"/>
          </a:p>
          <a:p>
            <a:pPr>
              <a:lnSpc>
                <a:spcPct val="150000"/>
              </a:lnSpc>
              <a:buClr>
                <a:schemeClr val="dk1"/>
              </a:buClr>
              <a:buSzPct val="100000"/>
            </a:pPr>
            <a:endParaRPr lang="en-IN" sz="1600" b="1" dirty="0"/>
          </a:p>
          <a:p>
            <a:pPr>
              <a:lnSpc>
                <a:spcPct val="150000"/>
              </a:lnSpc>
              <a:buClr>
                <a:schemeClr val="dk1"/>
              </a:buClr>
              <a:buSzPct val="100000"/>
            </a:pPr>
            <a:endParaRPr lang="en-IN" sz="16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787D461-6448-A124-4C29-34D0B00BDD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28195"/>
            <a:ext cx="4940300" cy="353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8315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4">
            <a:extLst>
              <a:ext uri="{FF2B5EF4-FFF2-40B4-BE49-F238E27FC236}">
                <a16:creationId xmlns:a16="http://schemas.microsoft.com/office/drawing/2014/main" id="{2798F621-6C2A-611B-83AC-1032434A81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34" y="1980458"/>
            <a:ext cx="4902200" cy="346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34F336-1ACB-14E0-66DC-288FA7A04608}"/>
              </a:ext>
            </a:extLst>
          </p:cNvPr>
          <p:cNvSpPr txBox="1"/>
          <p:nvPr/>
        </p:nvSpPr>
        <p:spPr>
          <a:xfrm>
            <a:off x="152894" y="190497"/>
            <a:ext cx="1188621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Calibri"/>
                <a:cs typeface="Calibri"/>
              </a:rPr>
              <a:t>Do companies still look for College Tier?</a:t>
            </a:r>
            <a:endParaRPr lang="en-US" sz="4000" b="1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6" name="Google Shape;111;p4">
            <a:extLst>
              <a:ext uri="{FF2B5EF4-FFF2-40B4-BE49-F238E27FC236}">
                <a16:creationId xmlns:a16="http://schemas.microsoft.com/office/drawing/2014/main" id="{1E012531-273D-0B08-D8C7-378EAB6F0A30}"/>
              </a:ext>
            </a:extLst>
          </p:cNvPr>
          <p:cNvSpPr txBox="1">
            <a:spLocks/>
          </p:cNvSpPr>
          <p:nvPr/>
        </p:nvSpPr>
        <p:spPr>
          <a:xfrm>
            <a:off x="6095999" y="2013007"/>
            <a:ext cx="5680842" cy="3434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600" b="1" dirty="0"/>
              <a:t>However there are some outliers in Tier 2, the winner of this race is going to be </a:t>
            </a:r>
            <a:r>
              <a:rPr lang="en-IN" sz="1600" b="1" dirty="0">
                <a:solidFill>
                  <a:srgbClr val="FF0000"/>
                </a:solidFill>
              </a:rPr>
              <a:t>Tier 1.</a:t>
            </a: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endParaRPr lang="en-IN" sz="1600" b="1" dirty="0">
              <a:solidFill>
                <a:srgbClr val="FF0000"/>
              </a:solidFill>
            </a:endParaRP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FF0000"/>
                </a:solidFill>
              </a:rPr>
              <a:t> </a:t>
            </a:r>
            <a:r>
              <a:rPr lang="en-IN" sz="1600" b="1" dirty="0"/>
              <a:t>This boxplot suggests attending a tier 1 college could be the key to unlocking a higher salary, but remember, </a:t>
            </a:r>
            <a:r>
              <a:rPr lang="en-IN" sz="1600" b="1" dirty="0">
                <a:solidFill>
                  <a:srgbClr val="FF0000"/>
                </a:solidFill>
              </a:rPr>
              <a:t>SKILLSET</a:t>
            </a:r>
            <a:r>
              <a:rPr lang="en-IN" sz="1600" b="1" dirty="0"/>
              <a:t> matters!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ct val="100000"/>
            </a:pPr>
            <a:endParaRPr lang="en-IN" sz="1600" b="1" dirty="0"/>
          </a:p>
          <a:p>
            <a:pPr>
              <a:lnSpc>
                <a:spcPct val="150000"/>
              </a:lnSpc>
              <a:buClr>
                <a:schemeClr val="dk1"/>
              </a:buClr>
              <a:buSzPct val="100000"/>
            </a:pPr>
            <a:endParaRPr lang="en-IN" sz="1600" b="1" dirty="0"/>
          </a:p>
          <a:p>
            <a:pPr>
              <a:lnSpc>
                <a:spcPct val="150000"/>
              </a:lnSpc>
              <a:buClr>
                <a:schemeClr val="dk1"/>
              </a:buClr>
              <a:buSzPct val="100000"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237571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9E8D1D-3420-75CD-F88F-E3AFD6A91793}"/>
              </a:ext>
            </a:extLst>
          </p:cNvPr>
          <p:cNvSpPr txBox="1"/>
          <p:nvPr/>
        </p:nvSpPr>
        <p:spPr>
          <a:xfrm>
            <a:off x="152894" y="190497"/>
            <a:ext cx="1188621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Calibri"/>
                <a:cs typeface="Calibri"/>
              </a:rPr>
              <a:t>Are Students Following the Crowd or Charting Their Own Path?</a:t>
            </a:r>
            <a:endParaRPr lang="en-US" sz="4000" b="1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4" name="Google Shape;111;p4">
            <a:extLst>
              <a:ext uri="{FF2B5EF4-FFF2-40B4-BE49-F238E27FC236}">
                <a16:creationId xmlns:a16="http://schemas.microsoft.com/office/drawing/2014/main" id="{4767E80C-F78F-EFC9-A5C5-F4EFEEC5C09C}"/>
              </a:ext>
            </a:extLst>
          </p:cNvPr>
          <p:cNvSpPr txBox="1">
            <a:spLocks/>
          </p:cNvSpPr>
          <p:nvPr/>
        </p:nvSpPr>
        <p:spPr>
          <a:xfrm>
            <a:off x="6358263" y="2182199"/>
            <a:ext cx="5680842" cy="3434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600" b="1" dirty="0"/>
              <a:t>We get it, we get it, </a:t>
            </a:r>
            <a:r>
              <a:rPr lang="en-IN" sz="1600" b="1" dirty="0">
                <a:solidFill>
                  <a:srgbClr val="FF0000"/>
                </a:solidFill>
              </a:rPr>
              <a:t>CSE is popular</a:t>
            </a:r>
            <a:r>
              <a:rPr lang="en-IN" sz="1600" b="1" dirty="0"/>
              <a:t>. Can we move on to the next plot point now?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ct val="100000"/>
            </a:pPr>
            <a:endParaRPr lang="en-IN" sz="1600" b="1" dirty="0"/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600" b="1" dirty="0"/>
              <a:t>Maybe next time, Civil Engineers</a:t>
            </a:r>
            <a:endParaRPr lang="en-IN" sz="16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buClr>
                <a:schemeClr val="dk1"/>
              </a:buClr>
              <a:buSzPct val="100000"/>
            </a:pPr>
            <a:endParaRPr lang="en-IN" sz="1600" b="1" dirty="0"/>
          </a:p>
          <a:p>
            <a:pPr>
              <a:lnSpc>
                <a:spcPct val="150000"/>
              </a:lnSpc>
              <a:buClr>
                <a:schemeClr val="dk1"/>
              </a:buClr>
              <a:buSzPct val="100000"/>
            </a:pPr>
            <a:endParaRPr lang="en-IN" sz="1600" dirty="0"/>
          </a:p>
        </p:txBody>
      </p:sp>
      <p:pic>
        <p:nvPicPr>
          <p:cNvPr id="5126" name="Picture 6">
            <a:extLst>
              <a:ext uri="{FF2B5EF4-FFF2-40B4-BE49-F238E27FC236}">
                <a16:creationId xmlns:a16="http://schemas.microsoft.com/office/drawing/2014/main" id="{1FED05E3-AD97-0752-8B62-E5EAD3FD78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083" y="2182199"/>
            <a:ext cx="5236759" cy="2817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33871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9E8D1D-3420-75CD-F88F-E3AFD6A91793}"/>
              </a:ext>
            </a:extLst>
          </p:cNvPr>
          <p:cNvSpPr txBox="1"/>
          <p:nvPr/>
        </p:nvSpPr>
        <p:spPr>
          <a:xfrm>
            <a:off x="152894" y="190497"/>
            <a:ext cx="120391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Calibri"/>
                <a:cs typeface="Calibri"/>
              </a:rPr>
              <a:t>Are students getting rid of home sickness? Let’s explore</a:t>
            </a:r>
            <a:endParaRPr lang="en-US" sz="4000" b="1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5" name="Google Shape;111;p4">
            <a:extLst>
              <a:ext uri="{FF2B5EF4-FFF2-40B4-BE49-F238E27FC236}">
                <a16:creationId xmlns:a16="http://schemas.microsoft.com/office/drawing/2014/main" id="{5E425520-9E72-8EBB-8A4C-444887D932B8}"/>
              </a:ext>
            </a:extLst>
          </p:cNvPr>
          <p:cNvSpPr txBox="1">
            <a:spLocks/>
          </p:cNvSpPr>
          <p:nvPr/>
        </p:nvSpPr>
        <p:spPr>
          <a:xfrm>
            <a:off x="6193147" y="1711724"/>
            <a:ext cx="5998853" cy="3434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600" b="1" dirty="0"/>
              <a:t>Chi-square value: </a:t>
            </a:r>
            <a:r>
              <a:rPr lang="en-IN" sz="1600" b="1" dirty="0">
                <a:solidFill>
                  <a:srgbClr val="FF0000"/>
                </a:solidFill>
              </a:rPr>
              <a:t>15325.94</a:t>
            </a:r>
            <a:r>
              <a:rPr lang="en-IN" sz="1600" b="1" dirty="0"/>
              <a:t> </a:t>
            </a: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600" b="1" dirty="0"/>
              <a:t>P-value: </a:t>
            </a:r>
            <a:r>
              <a:rPr lang="en-IN" sz="1600" b="1" dirty="0">
                <a:solidFill>
                  <a:srgbClr val="FF0000"/>
                </a:solidFill>
              </a:rPr>
              <a:t>0.0</a:t>
            </a: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endParaRPr lang="en-IN" sz="1600" b="1" dirty="0">
              <a:solidFill>
                <a:srgbClr val="FF0000"/>
              </a:solidFill>
            </a:endParaRP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600" b="1" dirty="0"/>
              <a:t>Since, P-Value equals to zero, we have enough evidence to </a:t>
            </a:r>
            <a:r>
              <a:rPr lang="en-IN" sz="1600" b="1" dirty="0">
                <a:solidFill>
                  <a:srgbClr val="FF0000"/>
                </a:solidFill>
              </a:rPr>
              <a:t>reject H0 </a:t>
            </a:r>
            <a:r>
              <a:rPr lang="en-IN" sz="1600" b="1" dirty="0"/>
              <a:t>(Null Hypothesis).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ct val="100000"/>
            </a:pPr>
            <a:endParaRPr lang="en-IN" sz="1600" b="1" dirty="0"/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600" b="1" dirty="0"/>
              <a:t>Students don’t prefer to work on the same place they studied. (Campus farewells turn into farewells to the city)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ct val="100000"/>
            </a:pPr>
            <a:endParaRPr lang="en-IN" sz="1600" b="1" dirty="0"/>
          </a:p>
          <a:p>
            <a:pPr>
              <a:lnSpc>
                <a:spcPct val="150000"/>
              </a:lnSpc>
              <a:buClr>
                <a:schemeClr val="dk1"/>
              </a:buClr>
              <a:buSzPct val="100000"/>
            </a:pPr>
            <a:endParaRPr lang="en-IN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487B8A-4AB0-A9D5-4FF2-345373637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535" y="1915956"/>
            <a:ext cx="5596319" cy="1513043"/>
          </a:xfrm>
          <a:prstGeom prst="rect">
            <a:avLst/>
          </a:prstGeom>
        </p:spPr>
      </p:pic>
      <p:sp>
        <p:nvSpPr>
          <p:cNvPr id="6" name="Google Shape;111;p4">
            <a:extLst>
              <a:ext uri="{FF2B5EF4-FFF2-40B4-BE49-F238E27FC236}">
                <a16:creationId xmlns:a16="http://schemas.microsoft.com/office/drawing/2014/main" id="{B88A1D22-C375-6B57-1679-DEC19C16E857}"/>
              </a:ext>
            </a:extLst>
          </p:cNvPr>
          <p:cNvSpPr txBox="1">
            <a:spLocks/>
          </p:cNvSpPr>
          <p:nvPr/>
        </p:nvSpPr>
        <p:spPr>
          <a:xfrm>
            <a:off x="596827" y="3386544"/>
            <a:ext cx="5596320" cy="911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  <a:buClr>
                <a:schemeClr val="dk1"/>
              </a:buClr>
              <a:buSzPct val="100000"/>
            </a:pPr>
            <a:r>
              <a:rPr lang="en-IN" sz="1600" b="1" dirty="0"/>
              <a:t>******************************************************************************</a:t>
            </a: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600" b="1" dirty="0"/>
              <a:t>[</a:t>
            </a:r>
            <a:r>
              <a:rPr lang="en-IN" sz="1600" b="1" dirty="0" err="1"/>
              <a:t>JobState</a:t>
            </a:r>
            <a:r>
              <a:rPr lang="en-IN" sz="1600" b="1" dirty="0"/>
              <a:t>] = The state where they are working</a:t>
            </a: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600" b="1" dirty="0"/>
              <a:t>[</a:t>
            </a:r>
            <a:r>
              <a:rPr lang="en-IN" sz="1600" b="1" dirty="0" err="1"/>
              <a:t>CollegeState</a:t>
            </a:r>
            <a:r>
              <a:rPr lang="en-IN" sz="1600" b="1" dirty="0"/>
              <a:t>] = The state where they studied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ct val="100000"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231548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9E8D1D-3420-75CD-F88F-E3AFD6A91793}"/>
              </a:ext>
            </a:extLst>
          </p:cNvPr>
          <p:cNvSpPr txBox="1"/>
          <p:nvPr/>
        </p:nvSpPr>
        <p:spPr>
          <a:xfrm>
            <a:off x="305789" y="214247"/>
            <a:ext cx="1188621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Calibri"/>
                <a:cs typeface="Calibri"/>
              </a:rPr>
              <a:t>Check how AMCAT Scores will determine pay scale</a:t>
            </a:r>
            <a:endParaRPr lang="en-US" sz="4000" b="1" dirty="0">
              <a:solidFill>
                <a:srgbClr val="FF0000"/>
              </a:solidFill>
              <a:latin typeface="Calibri"/>
              <a:cs typeface="Calibri"/>
              <a:sym typeface="Calibri"/>
            </a:endParaRPr>
          </a:p>
        </p:txBody>
      </p:sp>
      <p:sp>
        <p:nvSpPr>
          <p:cNvPr id="4" name="Google Shape;111;p4">
            <a:extLst>
              <a:ext uri="{FF2B5EF4-FFF2-40B4-BE49-F238E27FC236}">
                <a16:creationId xmlns:a16="http://schemas.microsoft.com/office/drawing/2014/main" id="{4767E80C-F78F-EFC9-A5C5-F4EFEEC5C09C}"/>
              </a:ext>
            </a:extLst>
          </p:cNvPr>
          <p:cNvSpPr txBox="1">
            <a:spLocks/>
          </p:cNvSpPr>
          <p:nvPr/>
        </p:nvSpPr>
        <p:spPr>
          <a:xfrm>
            <a:off x="4970483" y="2424244"/>
            <a:ext cx="5998853" cy="3434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600" b="1" dirty="0"/>
              <a:t>Pearson correlation coefficient: </a:t>
            </a:r>
            <a:r>
              <a:rPr lang="en-IN" sz="1600" b="1" dirty="0">
                <a:solidFill>
                  <a:srgbClr val="FF0000"/>
                </a:solidFill>
              </a:rPr>
              <a:t>0.25</a:t>
            </a: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600" b="1" dirty="0"/>
              <a:t>P-value: </a:t>
            </a:r>
            <a:r>
              <a:rPr lang="en-IN" sz="1600" b="1" dirty="0">
                <a:solidFill>
                  <a:srgbClr val="FF0000"/>
                </a:solidFill>
              </a:rPr>
              <a:t>4.42e-59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ct val="100000"/>
            </a:pPr>
            <a:endParaRPr lang="en-IN" sz="1600" b="1" dirty="0">
              <a:solidFill>
                <a:srgbClr val="FF0000"/>
              </a:solidFill>
            </a:endParaRP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600" b="1" dirty="0"/>
              <a:t>Since, P-Value equals to zero, we have enough evidence to </a:t>
            </a:r>
            <a:r>
              <a:rPr lang="en-IN" sz="1600" b="1" dirty="0">
                <a:solidFill>
                  <a:srgbClr val="FF0000"/>
                </a:solidFill>
              </a:rPr>
              <a:t>reject H0 </a:t>
            </a:r>
            <a:r>
              <a:rPr lang="en-IN" sz="1600" b="1" dirty="0"/>
              <a:t>(Null Hypothesis).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ct val="100000"/>
            </a:pPr>
            <a:endParaRPr lang="en-IN" sz="1600" b="1" dirty="0"/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600" b="1" dirty="0"/>
              <a:t>We could see there is a correlation among AMCAT scores and salary. </a:t>
            </a:r>
            <a:r>
              <a:rPr lang="en-IN" sz="1600" b="1" dirty="0">
                <a:solidFill>
                  <a:srgbClr val="FF0000"/>
                </a:solidFill>
              </a:rPr>
              <a:t>[r=0.25]</a:t>
            </a: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endParaRPr lang="en-IN" sz="1600" b="1" dirty="0"/>
          </a:p>
          <a:p>
            <a:pPr>
              <a:lnSpc>
                <a:spcPct val="150000"/>
              </a:lnSpc>
              <a:buClr>
                <a:schemeClr val="dk1"/>
              </a:buClr>
              <a:buSzPct val="100000"/>
            </a:pPr>
            <a:endParaRPr lang="en-IN" sz="1600" b="1" dirty="0"/>
          </a:p>
          <a:p>
            <a:pPr>
              <a:lnSpc>
                <a:spcPct val="150000"/>
              </a:lnSpc>
              <a:buClr>
                <a:schemeClr val="dk1"/>
              </a:buClr>
              <a:buSzPct val="100000"/>
            </a:pPr>
            <a:endParaRPr lang="en-IN" sz="16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DE9C74A-21DC-FDC5-92EE-D9D3F1EC75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40" y="2198090"/>
            <a:ext cx="4902200" cy="353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5678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9E8D1D-3420-75CD-F88F-E3AFD6A91793}"/>
              </a:ext>
            </a:extLst>
          </p:cNvPr>
          <p:cNvSpPr txBox="1"/>
          <p:nvPr/>
        </p:nvSpPr>
        <p:spPr>
          <a:xfrm>
            <a:off x="152894" y="190497"/>
            <a:ext cx="1188621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Calibri"/>
                <a:cs typeface="Calibri"/>
              </a:rPr>
              <a:t>Are English, Logical and Quant marks correlated?</a:t>
            </a:r>
            <a:endParaRPr lang="en-US" sz="4000" b="1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4" name="Google Shape;111;p4">
            <a:extLst>
              <a:ext uri="{FF2B5EF4-FFF2-40B4-BE49-F238E27FC236}">
                <a16:creationId xmlns:a16="http://schemas.microsoft.com/office/drawing/2014/main" id="{4767E80C-F78F-EFC9-A5C5-F4EFEEC5C09C}"/>
              </a:ext>
            </a:extLst>
          </p:cNvPr>
          <p:cNvSpPr txBox="1">
            <a:spLocks/>
          </p:cNvSpPr>
          <p:nvPr/>
        </p:nvSpPr>
        <p:spPr>
          <a:xfrm>
            <a:off x="6511159" y="1861293"/>
            <a:ext cx="5680842" cy="3434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600" b="1" dirty="0"/>
              <a:t>The Answer is </a:t>
            </a:r>
            <a:r>
              <a:rPr lang="en-IN" sz="1600" b="1" dirty="0">
                <a:solidFill>
                  <a:srgbClr val="FF0000"/>
                </a:solidFill>
              </a:rPr>
              <a:t>YES!. </a:t>
            </a:r>
            <a:r>
              <a:rPr lang="en-IN" sz="1600" b="1" dirty="0">
                <a:solidFill>
                  <a:schemeClr val="tx1"/>
                </a:solidFill>
              </a:rPr>
              <a:t>All these 3 variables are positively correlated.</a:t>
            </a:r>
            <a:endParaRPr lang="en-IN" sz="16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buClr>
                <a:schemeClr val="dk1"/>
              </a:buClr>
              <a:buSzPct val="100000"/>
            </a:pPr>
            <a:endParaRPr lang="en-IN" sz="1600" b="1" dirty="0"/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600" b="1" dirty="0"/>
              <a:t>Hmm. Forget rock-paper-scissors, it's English-Quant-Logical in the AMCAT arena, and they're all working together!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ct val="100000"/>
            </a:pPr>
            <a:endParaRPr lang="en-IN" sz="1600" b="1" dirty="0"/>
          </a:p>
          <a:p>
            <a:pPr>
              <a:lnSpc>
                <a:spcPct val="150000"/>
              </a:lnSpc>
              <a:buClr>
                <a:schemeClr val="dk1"/>
              </a:buClr>
              <a:buSzPct val="100000"/>
            </a:pPr>
            <a:endParaRPr lang="en-IN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C91C37-7B34-2EC5-C577-3B6FA0CC7F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397" y="1513936"/>
            <a:ext cx="5892800" cy="473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14864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9E8D1D-3420-75CD-F88F-E3AFD6A91793}"/>
              </a:ext>
            </a:extLst>
          </p:cNvPr>
          <p:cNvSpPr txBox="1"/>
          <p:nvPr/>
        </p:nvSpPr>
        <p:spPr>
          <a:xfrm>
            <a:off x="152894" y="190497"/>
            <a:ext cx="1188621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Calibri"/>
                <a:cs typeface="Calibri"/>
              </a:rPr>
              <a:t>Forget the Billionaires, Which Specialization Makes You a Millionaire?</a:t>
            </a:r>
            <a:endParaRPr lang="en-US" sz="4000" b="1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4" name="Google Shape;111;p4">
            <a:extLst>
              <a:ext uri="{FF2B5EF4-FFF2-40B4-BE49-F238E27FC236}">
                <a16:creationId xmlns:a16="http://schemas.microsoft.com/office/drawing/2014/main" id="{4767E80C-F78F-EFC9-A5C5-F4EFEEC5C09C}"/>
              </a:ext>
            </a:extLst>
          </p:cNvPr>
          <p:cNvSpPr txBox="1">
            <a:spLocks/>
          </p:cNvSpPr>
          <p:nvPr/>
        </p:nvSpPr>
        <p:spPr>
          <a:xfrm>
            <a:off x="6511159" y="1861293"/>
            <a:ext cx="5680842" cy="3434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600" b="1" dirty="0"/>
              <a:t>The plot twist nobody saw coming: </a:t>
            </a:r>
            <a:r>
              <a:rPr lang="en-IN" sz="1600" b="1" dirty="0">
                <a:solidFill>
                  <a:srgbClr val="FF0000"/>
                </a:solidFill>
              </a:rPr>
              <a:t>Chemical Engineers</a:t>
            </a:r>
            <a:r>
              <a:rPr lang="en-IN" sz="1600" b="1" dirty="0"/>
              <a:t> take home the salary crown.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ct val="100000"/>
            </a:pPr>
            <a:endParaRPr lang="en-IN" sz="1600" b="1" dirty="0"/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600" b="1" dirty="0"/>
              <a:t>Looks like the periodic table pays better than the binary code these days. (😂)</a:t>
            </a: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endParaRPr lang="en-IN" sz="16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buClr>
                <a:schemeClr val="dk1"/>
              </a:buClr>
              <a:buSzPct val="100000"/>
            </a:pPr>
            <a:endParaRPr lang="en-IN" sz="1600" b="1" dirty="0"/>
          </a:p>
          <a:p>
            <a:pPr>
              <a:lnSpc>
                <a:spcPct val="150000"/>
              </a:lnSpc>
              <a:buClr>
                <a:schemeClr val="dk1"/>
              </a:buClr>
              <a:buSzPct val="100000"/>
            </a:pPr>
            <a:endParaRPr lang="en-IN" sz="1600" dirty="0"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BC73B3F8-9DAA-921B-11C5-D79FA080B3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894" y="1861293"/>
            <a:ext cx="6270826" cy="3877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0563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8602BF-0FBC-7E42-70B9-5A420EFFC9B3}"/>
              </a:ext>
            </a:extLst>
          </p:cNvPr>
          <p:cNvSpPr txBox="1"/>
          <p:nvPr/>
        </p:nvSpPr>
        <p:spPr>
          <a:xfrm>
            <a:off x="152894" y="2304304"/>
            <a:ext cx="1188621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3200" b="1" dirty="0">
                <a:solidFill>
                  <a:schemeClr val="tx1"/>
                </a:solidFill>
                <a:latin typeface="Calibri"/>
                <a:cs typeface="Calibri"/>
              </a:rPr>
              <a:t>Times of India article dated Jan 18, 2019 states that “After doing your Computer Science Engineering if you take up jobs as a Programming Analyst, Software Engineer, Hardware Engineer and Associate Engineer you can earn up to 2.5-3 lakhs as a fresh graduate.” Test this claim with the data given to you.</a:t>
            </a:r>
            <a:endParaRPr lang="en-US" sz="3200" b="1" dirty="0">
              <a:solidFill>
                <a:schemeClr val="tx1"/>
              </a:solidFill>
              <a:latin typeface="Calibri"/>
              <a:cs typeface="Calibri"/>
            </a:endParaRPr>
          </a:p>
          <a:p>
            <a:pPr algn="just"/>
            <a:endParaRPr lang="en-US" sz="3200" b="1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3" name="Google Shape;110;p4">
            <a:extLst>
              <a:ext uri="{FF2B5EF4-FFF2-40B4-BE49-F238E27FC236}">
                <a16:creationId xmlns:a16="http://schemas.microsoft.com/office/drawing/2014/main" id="{11EC4341-CFE9-7B6D-DD96-EF8456FB4398}"/>
              </a:ext>
            </a:extLst>
          </p:cNvPr>
          <p:cNvSpPr txBox="1">
            <a:spLocks/>
          </p:cNvSpPr>
          <p:nvPr/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90000"/>
              </a:lnSpc>
              <a:buClr>
                <a:srgbClr val="FF0000"/>
              </a:buClr>
              <a:buSzPts val="4400"/>
              <a:buFont typeface="Calibri"/>
              <a:buNone/>
            </a:pPr>
            <a:r>
              <a:rPr lang="en-IN" sz="3600" b="1" dirty="0">
                <a:solidFill>
                  <a:srgbClr val="FF0000"/>
                </a:solidFill>
              </a:rPr>
              <a:t>RESEARCH QUESTION - 1</a:t>
            </a:r>
          </a:p>
        </p:txBody>
      </p:sp>
    </p:spTree>
    <p:extLst>
      <p:ext uri="{BB962C8B-B14F-4D97-AF65-F5344CB8AC3E}">
        <p14:creationId xmlns:p14="http://schemas.microsoft.com/office/powerpoint/2010/main" val="39275588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E888F96-F0A8-A210-E5F4-5177F280A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5243915"/>
              </p:ext>
            </p:extLst>
          </p:nvPr>
        </p:nvGraphicFramePr>
        <p:xfrm>
          <a:off x="1580736" y="1966575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5183199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48757408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300599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711822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Designation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Test Statistic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 P -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Conclusion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041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Software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13.02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1.85e-36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Reject H0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177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Hardware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0.68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0.513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Do not reject H0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3761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Associate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/>
                        <a:t>Do not reject H0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444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Programming Analyst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5.40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1.99e-07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/>
                        <a:t>Reject H0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9221100"/>
                  </a:ext>
                </a:extLst>
              </a:tr>
            </a:tbl>
          </a:graphicData>
        </a:graphic>
      </p:graphicFrame>
      <p:sp>
        <p:nvSpPr>
          <p:cNvPr id="7" name="Google Shape;111;p4">
            <a:extLst>
              <a:ext uri="{FF2B5EF4-FFF2-40B4-BE49-F238E27FC236}">
                <a16:creationId xmlns:a16="http://schemas.microsoft.com/office/drawing/2014/main" id="{368D65FA-0B7F-4FE0-8917-071DD6E02279}"/>
              </a:ext>
            </a:extLst>
          </p:cNvPr>
          <p:cNvSpPr txBox="1">
            <a:spLocks/>
          </p:cNvSpPr>
          <p:nvPr/>
        </p:nvSpPr>
        <p:spPr>
          <a:xfrm>
            <a:off x="1094033" y="457476"/>
            <a:ext cx="5680842" cy="13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2000" b="1" dirty="0"/>
              <a:t>Test used – </a:t>
            </a:r>
            <a:r>
              <a:rPr lang="en-IN" sz="2000" b="1" dirty="0">
                <a:solidFill>
                  <a:srgbClr val="FF0000"/>
                </a:solidFill>
              </a:rPr>
              <a:t>1 Sample T-Test</a:t>
            </a:r>
            <a:endParaRPr lang="en-IN" sz="2000" b="1" dirty="0"/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2000" b="1" dirty="0"/>
              <a:t>Level of Significance – </a:t>
            </a:r>
            <a:r>
              <a:rPr lang="en-IN" sz="2000" b="1" dirty="0">
                <a:solidFill>
                  <a:srgbClr val="FF0000"/>
                </a:solidFill>
              </a:rPr>
              <a:t>0.05</a:t>
            </a: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endParaRPr lang="en-IN" sz="20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buClr>
                <a:schemeClr val="dk1"/>
              </a:buClr>
              <a:buSzPct val="100000"/>
            </a:pPr>
            <a:endParaRPr lang="en-IN" sz="2000" b="1" dirty="0"/>
          </a:p>
          <a:p>
            <a:pPr>
              <a:lnSpc>
                <a:spcPct val="150000"/>
              </a:lnSpc>
              <a:buClr>
                <a:schemeClr val="dk1"/>
              </a:buClr>
              <a:buSzPct val="100000"/>
            </a:pPr>
            <a:endParaRPr lang="en-IN" sz="2000" dirty="0"/>
          </a:p>
        </p:txBody>
      </p:sp>
      <p:sp>
        <p:nvSpPr>
          <p:cNvPr id="8" name="Google Shape;111;p4">
            <a:extLst>
              <a:ext uri="{FF2B5EF4-FFF2-40B4-BE49-F238E27FC236}">
                <a16:creationId xmlns:a16="http://schemas.microsoft.com/office/drawing/2014/main" id="{0653F4AE-D700-72BD-66E3-CCCD7BA792EA}"/>
              </a:ext>
            </a:extLst>
          </p:cNvPr>
          <p:cNvSpPr txBox="1">
            <a:spLocks/>
          </p:cNvSpPr>
          <p:nvPr/>
        </p:nvSpPr>
        <p:spPr>
          <a:xfrm>
            <a:off x="1094033" y="4148722"/>
            <a:ext cx="9296876" cy="3434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  <a:buClr>
                <a:schemeClr val="dk1"/>
              </a:buClr>
              <a:buSzPct val="100000"/>
            </a:pPr>
            <a:r>
              <a:rPr lang="en-IN" sz="2000" b="1" dirty="0">
                <a:solidFill>
                  <a:srgbClr val="FF0000"/>
                </a:solidFill>
              </a:rPr>
              <a:t>Conclusion:</a:t>
            </a:r>
          </a:p>
          <a:p>
            <a:pPr marL="285750" lvl="1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600" b="1" dirty="0"/>
              <a:t>Only Software Engineer and Programming Analysts are having higher income range.</a:t>
            </a:r>
          </a:p>
          <a:p>
            <a:pPr marL="285750" lvl="1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600" b="1" dirty="0"/>
              <a:t>Hardware and Associate Engineers do not have proper evidence to prove against.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3556893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8602BF-0FBC-7E42-70B9-5A420EFFC9B3}"/>
              </a:ext>
            </a:extLst>
          </p:cNvPr>
          <p:cNvSpPr txBox="1"/>
          <p:nvPr/>
        </p:nvSpPr>
        <p:spPr>
          <a:xfrm>
            <a:off x="152894" y="2304304"/>
            <a:ext cx="1188621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3200" b="1" dirty="0">
                <a:solidFill>
                  <a:schemeClr val="tx1"/>
                </a:solidFill>
                <a:latin typeface="Calibri"/>
                <a:cs typeface="Calibri"/>
              </a:rPr>
              <a:t>According to (AMEO-2015) dataset. It has been observed from the analysis that </a:t>
            </a:r>
            <a:r>
              <a:rPr lang="en-IN" sz="3200" b="1" dirty="0" err="1">
                <a:solidFill>
                  <a:schemeClr val="tx1"/>
                </a:solidFill>
                <a:latin typeface="Calibri"/>
                <a:cs typeface="Calibri"/>
              </a:rPr>
              <a:t>B.Tech</a:t>
            </a:r>
            <a:r>
              <a:rPr lang="en-IN" sz="3200" b="1" dirty="0">
                <a:solidFill>
                  <a:schemeClr val="tx1"/>
                </a:solidFill>
                <a:latin typeface="Calibri"/>
                <a:cs typeface="Calibri"/>
              </a:rPr>
              <a:t> is the most preferred course in India with Electronics and Communication engineering stream as the most preferred branch with highest package around 13 lakhs per annum and average package around 5 lakhs</a:t>
            </a:r>
            <a:endParaRPr lang="en-US" sz="3200" b="1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3" name="Google Shape;110;p4">
            <a:extLst>
              <a:ext uri="{FF2B5EF4-FFF2-40B4-BE49-F238E27FC236}">
                <a16:creationId xmlns:a16="http://schemas.microsoft.com/office/drawing/2014/main" id="{11EC4341-CFE9-7B6D-DD96-EF8456FB4398}"/>
              </a:ext>
            </a:extLst>
          </p:cNvPr>
          <p:cNvSpPr txBox="1">
            <a:spLocks/>
          </p:cNvSpPr>
          <p:nvPr/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90000"/>
              </a:lnSpc>
              <a:buClr>
                <a:srgbClr val="FF0000"/>
              </a:buClr>
              <a:buSzPts val="4400"/>
              <a:buFont typeface="Calibri"/>
              <a:buNone/>
            </a:pPr>
            <a:r>
              <a:rPr lang="en-IN" sz="3600" b="1" dirty="0">
                <a:solidFill>
                  <a:srgbClr val="FF0000"/>
                </a:solidFill>
              </a:rPr>
              <a:t>RESEARCH QUESTION - 2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9BBC6A-FE00-6557-A57A-A985887E12F4}"/>
              </a:ext>
            </a:extLst>
          </p:cNvPr>
          <p:cNvSpPr txBox="1"/>
          <p:nvPr/>
        </p:nvSpPr>
        <p:spPr>
          <a:xfrm>
            <a:off x="9595262" y="4785756"/>
            <a:ext cx="20056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ResearchGate</a:t>
            </a:r>
          </a:p>
        </p:txBody>
      </p:sp>
    </p:spTree>
    <p:extLst>
      <p:ext uri="{BB962C8B-B14F-4D97-AF65-F5344CB8AC3E}">
        <p14:creationId xmlns:p14="http://schemas.microsoft.com/office/powerpoint/2010/main" val="34692397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>
            <a:extLst>
              <a:ext uri="{FF2B5EF4-FFF2-40B4-BE49-F238E27FC236}">
                <a16:creationId xmlns:a16="http://schemas.microsoft.com/office/drawing/2014/main" id="{74E21DBF-D9EC-3696-0E12-89E48DFFA4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783" y="494641"/>
            <a:ext cx="3632448" cy="2409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>
            <a:extLst>
              <a:ext uri="{FF2B5EF4-FFF2-40B4-BE49-F238E27FC236}">
                <a16:creationId xmlns:a16="http://schemas.microsoft.com/office/drawing/2014/main" id="{17B33148-DD7C-E7B2-F9C0-E8AA4F3FA6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8115" y="2164865"/>
            <a:ext cx="4709144" cy="2528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2" name="Picture 6">
            <a:extLst>
              <a:ext uri="{FF2B5EF4-FFF2-40B4-BE49-F238E27FC236}">
                <a16:creationId xmlns:a16="http://schemas.microsoft.com/office/drawing/2014/main" id="{64AAC962-9DAE-B9F3-CE30-6AA7D7D5C1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741" y="3953989"/>
            <a:ext cx="3628490" cy="2700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558FBFA-B95B-D381-05DE-A6CA31EF5160}"/>
              </a:ext>
            </a:extLst>
          </p:cNvPr>
          <p:cNvCxnSpPr/>
          <p:nvPr/>
        </p:nvCxnSpPr>
        <p:spPr>
          <a:xfrm>
            <a:off x="4358244" y="0"/>
            <a:ext cx="0" cy="68580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30170A5-B6FF-7E85-B480-16FD830B237E}"/>
              </a:ext>
            </a:extLst>
          </p:cNvPr>
          <p:cNvCxnSpPr/>
          <p:nvPr/>
        </p:nvCxnSpPr>
        <p:spPr>
          <a:xfrm>
            <a:off x="6873834" y="0"/>
            <a:ext cx="0" cy="68580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A9BF4B32-1B7C-6C97-9A25-6E79F32BDB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7046" y="5582887"/>
            <a:ext cx="2074305" cy="533393"/>
          </a:xfrm>
          <a:prstGeom prst="rect">
            <a:avLst/>
          </a:prstGeom>
        </p:spPr>
      </p:pic>
      <p:pic>
        <p:nvPicPr>
          <p:cNvPr id="14344" name="Picture 8" descr="200+ Free Correct &amp; Tick Images - Pixabay">
            <a:extLst>
              <a:ext uri="{FF2B5EF4-FFF2-40B4-BE49-F238E27FC236}">
                <a16:creationId xmlns:a16="http://schemas.microsoft.com/office/drawing/2014/main" id="{EF3C2478-B90C-3F08-A4BF-B8D41E903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8053" y="740755"/>
            <a:ext cx="1451472" cy="1424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6" name="Picture 10" descr="Free Wrong Vector Art - Download 58+ Wrong Icons &amp; Graphics - Pixabay">
            <a:extLst>
              <a:ext uri="{FF2B5EF4-FFF2-40B4-BE49-F238E27FC236}">
                <a16:creationId xmlns:a16="http://schemas.microsoft.com/office/drawing/2014/main" id="{7B8602AB-0207-6FDB-191D-9AB2A7398A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8053" y="2665517"/>
            <a:ext cx="1288472" cy="1288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0" descr="Free Wrong Vector Art - Download 58+ Wrong Icons &amp; Graphics - Pixabay">
            <a:extLst>
              <a:ext uri="{FF2B5EF4-FFF2-40B4-BE49-F238E27FC236}">
                <a16:creationId xmlns:a16="http://schemas.microsoft.com/office/drawing/2014/main" id="{B20F8A4C-625C-DA4F-197C-E91E1CE8BF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1803" y="4827808"/>
            <a:ext cx="1288472" cy="1288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F36D78-3A11-24DA-072D-848C5A8C1B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7164" y="4290952"/>
            <a:ext cx="1878814" cy="53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0032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</a:rPr>
              <a:t>Conclusion: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2" name="Google Shape;111;p4">
            <a:extLst>
              <a:ext uri="{FF2B5EF4-FFF2-40B4-BE49-F238E27FC236}">
                <a16:creationId xmlns:a16="http://schemas.microsoft.com/office/drawing/2014/main" id="{86FECDD5-2321-3F3D-07F3-0D071A92FA66}"/>
              </a:ext>
            </a:extLst>
          </p:cNvPr>
          <p:cNvSpPr txBox="1">
            <a:spLocks/>
          </p:cNvSpPr>
          <p:nvPr/>
        </p:nvSpPr>
        <p:spPr>
          <a:xfrm>
            <a:off x="486649" y="1343818"/>
            <a:ext cx="11218701" cy="4035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</a:rPr>
              <a:t>Male</a:t>
            </a:r>
            <a:r>
              <a:rPr lang="en-IN" sz="2400" b="1" dirty="0"/>
              <a:t> earns more salary</a:t>
            </a: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</a:rPr>
              <a:t>Experience</a:t>
            </a:r>
            <a:r>
              <a:rPr lang="en-IN" sz="2400" b="1" dirty="0"/>
              <a:t> pays you higher salary</a:t>
            </a: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2400" b="1" dirty="0"/>
              <a:t>10</a:t>
            </a:r>
            <a:r>
              <a:rPr lang="en-IN" sz="2400" b="1" baseline="30000" dirty="0"/>
              <a:t>th</a:t>
            </a:r>
            <a:r>
              <a:rPr lang="en-IN" sz="2400" b="1" dirty="0"/>
              <a:t> &amp; 12</a:t>
            </a:r>
            <a:r>
              <a:rPr lang="en-IN" sz="2400" b="1" baseline="30000" dirty="0"/>
              <a:t>th</a:t>
            </a:r>
            <a:r>
              <a:rPr lang="en-IN" sz="2400" b="1" dirty="0"/>
              <a:t> board are </a:t>
            </a:r>
            <a:r>
              <a:rPr lang="en-IN" sz="2400" b="1" dirty="0">
                <a:solidFill>
                  <a:srgbClr val="FF0000"/>
                </a:solidFill>
              </a:rPr>
              <a:t>same</a:t>
            </a:r>
            <a:r>
              <a:rPr lang="en-IN" sz="2400" b="1" dirty="0"/>
              <a:t> (Chi-</a:t>
            </a:r>
            <a:r>
              <a:rPr lang="en-IN" sz="2400" b="1" dirty="0" err="1"/>
              <a:t>sq</a:t>
            </a:r>
            <a:r>
              <a:rPr lang="en-IN" sz="2400" b="1" dirty="0"/>
              <a:t> test)</a:t>
            </a: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2400" b="1" dirty="0"/>
              <a:t>Students maintain </a:t>
            </a:r>
            <a:r>
              <a:rPr lang="en-IN" sz="2400" b="1" dirty="0">
                <a:solidFill>
                  <a:srgbClr val="FF0000"/>
                </a:solidFill>
              </a:rPr>
              <a:t>consistence performance </a:t>
            </a:r>
            <a:r>
              <a:rPr lang="en-IN" sz="2400" b="1" dirty="0"/>
              <a:t>in school and college as well</a:t>
            </a: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</a:rPr>
              <a:t>Top Tier college </a:t>
            </a:r>
            <a:r>
              <a:rPr lang="en-IN" sz="2400" b="1" dirty="0"/>
              <a:t>graduates have chance of getting </a:t>
            </a:r>
            <a:r>
              <a:rPr lang="en-IN" sz="2400" b="1" dirty="0">
                <a:solidFill>
                  <a:srgbClr val="FF0000"/>
                </a:solidFill>
              </a:rPr>
              <a:t>more salary </a:t>
            </a:r>
            <a:r>
              <a:rPr lang="en-IN" sz="2400" b="1" dirty="0"/>
              <a:t>pay</a:t>
            </a: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2400" b="1" dirty="0"/>
              <a:t>Students wish to </a:t>
            </a:r>
            <a:r>
              <a:rPr lang="en-IN" sz="2400" b="1" dirty="0">
                <a:solidFill>
                  <a:srgbClr val="FF0000"/>
                </a:solidFill>
              </a:rPr>
              <a:t>relocate</a:t>
            </a:r>
            <a:r>
              <a:rPr lang="en-IN" sz="2400" b="1" dirty="0"/>
              <a:t> themselves for works</a:t>
            </a: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</a:rPr>
              <a:t>AMCAT Scores </a:t>
            </a:r>
            <a:r>
              <a:rPr lang="en-IN" sz="2400" b="1" dirty="0"/>
              <a:t>is one of the key feature that </a:t>
            </a:r>
            <a:r>
              <a:rPr lang="en-IN" sz="2400" b="1" dirty="0">
                <a:solidFill>
                  <a:srgbClr val="FF0000"/>
                </a:solidFill>
              </a:rPr>
              <a:t>determines your pay</a:t>
            </a:r>
            <a:endParaRPr lang="en-IN" sz="2400"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922</Words>
  <Application>Microsoft Office PowerPoint</Application>
  <PresentationFormat>Widescreen</PresentationFormat>
  <Paragraphs>124</Paragraphs>
  <Slides>21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Calibri</vt:lpstr>
      <vt:lpstr>Wingdings</vt:lpstr>
      <vt:lpstr>Arial</vt:lpstr>
      <vt:lpstr>Lato Black</vt:lpstr>
      <vt:lpstr>Libre Baskerville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Shridhar N</cp:lastModifiedBy>
  <cp:revision>5</cp:revision>
  <dcterms:created xsi:type="dcterms:W3CDTF">2021-02-16T05:19:01Z</dcterms:created>
  <dcterms:modified xsi:type="dcterms:W3CDTF">2024-02-23T10:29:42Z</dcterms:modified>
</cp:coreProperties>
</file>